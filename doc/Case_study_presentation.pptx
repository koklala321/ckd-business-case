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1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6597-84C2-4037-8789-D57CB3AA3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C1616-A67E-0102-E981-AFE8A2B72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637F2-676F-FC57-97EB-CC89B630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6AE6-33D1-B3C3-EE84-FE732D90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62A33-D2D0-E3D8-2BD3-20C01DF0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32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7CD3-A610-60D2-F3A9-E34B5A15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E6D0F-E4D7-9848-F8B9-2D56A0A63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066E-0DF6-DE0B-7C62-2B5F7AD8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6B2FD-81E0-5FE3-A8FF-41794EAA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6B142-AE6F-6158-0453-9A068C9C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86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78AF-0B55-ECEA-F802-782C654D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902EF-38E0-186F-5D26-4E2FEC31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D7D05-4038-3326-8A98-36BEB507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5278-9904-E26B-4870-980C6428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0C9F3-38C9-4EC9-84E7-E81EE2D4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41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BAAA6-2E8D-C964-7254-F8794135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706D-01B8-D79B-5ECF-179546F50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98272-F11C-AC7F-D651-D984A9133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84ECD-6456-19C1-DC09-D4E130A0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F044B-5D3D-878B-817D-C0EB37EB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82AA-BB28-7D9D-BF93-41C3328F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40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BE2-1DF5-B694-84BC-1D189634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5D499-8CD3-38DB-3599-0EAC18EA4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F9E5C-F325-3DAC-7A3C-072C1CF1F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D9D90-584F-6D23-656B-E2B969E99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C4933-EC29-339D-FF9E-5E23DC3BD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07A70-39A8-B276-8448-F9C4696B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FC7DB-7290-55FD-2AF2-DCCB3C62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70259-275C-BD55-1AFD-988DE3BC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40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DA56-1D69-ED25-C9A2-39F131F8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4C9C5-0D29-1435-F85F-52580B09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D53D6-7982-D10B-467F-296FDD09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36B5B-A74F-77AA-03C7-F555C647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29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B5538-29C2-6D4C-AC41-DEB06B85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250A9-503E-6F7C-9F46-352754D2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495D5-FDE1-8835-8BF9-4F359A8E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740E-54A7-06B6-9ACC-D6E5D5E8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B5FAA-91FE-0C83-D5B4-7BBDAD36C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D8921-44B7-7B64-FDD3-D08C575B6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7DA14-E9B2-59C0-EABA-BAC63544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28EC4-DFB0-137A-73AD-00A1E4A9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EBBEF-1B5E-719C-2577-C32F7635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85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E4B5-FFB7-3AC1-9FE1-AE29FD8F1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DD678-EA9C-1C67-1698-1E58A7D57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D6A04-0F5B-A7B7-00CE-145186A57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E142-74FD-5AA7-24C0-882C51A3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62E87-CBCA-E8C4-292A-BAE6E9BE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A58DD-6ED7-1E57-F450-9CD5E7E9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07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9CEF-D492-F123-4F43-EB15EE49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5875A-BA10-F55C-720E-E60FD1108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11B2-28BD-5211-E0C9-A8C6CE1A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0E95C-5BB7-40D6-60F3-A44D6FF3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9FCC-C222-2669-3A19-CEDEA4D4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6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FEF4FF-6A82-8879-A1B0-242D2B9AD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B402B-2409-9848-BADD-A7C067F8D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400A-FC5B-6080-275D-56F7662A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822B3-C915-E218-1F25-BBC67524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716C-2CBA-A751-E3DD-3E61A5FB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2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08F66-A89D-ABCD-2EBC-0214067B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60D19-A3BD-10A2-7CA6-E969F3C15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02344-6DC1-B595-3F1E-8FAFD03DC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1BB34-2E51-40BC-B085-8411EBBD0BFC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96A9-59B2-43AD-3346-7C01C9292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6A0D-3294-0C5E-FE45-FF6159D0F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AAC40-4AF6-4069-A550-57C2B92A2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8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73152" cy="6858000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4600" y="1325880"/>
            <a:ext cx="78638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3400" b="1" i="0">
                <a:solidFill>
                  <a:srgbClr val="1D2B28"/>
                </a:solidFill>
                <a:latin typeface="Arial"/>
              </a:rPr>
              <a:t>Chronic Kidney Disease (CKD)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956816"/>
            <a:ext cx="78638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GB" sz="3200" b="1" i="0" dirty="0">
                <a:solidFill>
                  <a:srgbClr val="006B54"/>
                </a:solidFill>
                <a:latin typeface="Arial"/>
              </a:rPr>
              <a:t>Data Engineer / Scientist Business Case</a:t>
            </a:r>
            <a:endParaRPr sz="3200" b="1" i="0" dirty="0">
              <a:solidFill>
                <a:srgbClr val="006B54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2032" y="2880360"/>
            <a:ext cx="214884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3154680"/>
            <a:ext cx="7543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endParaRPr sz="1800" b="0" i="0" dirty="0">
              <a:solidFill>
                <a:srgbClr val="5F6F68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4600" y="6172200"/>
            <a:ext cx="6400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000" b="0" i="0">
                <a:solidFill>
                  <a:srgbClr val="5F6F68"/>
                </a:solidFill>
                <a:latin typeface="Arial"/>
              </a:rPr>
              <a:t>Based on NHS CVD Prevent data; updated to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5598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Data sources and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280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006B54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84632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1D2B28"/>
                </a:solidFill>
                <a:latin typeface="Arial"/>
              </a:rPr>
              <a:t>NHS CVD Prevent Data Explorer, using Integrated Care Board (ICB) records updated to December 2025. The analysis ranks where diagnosis, coding and testing gaps create the strongest opportunity.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325195"/>
              </p:ext>
            </p:extLst>
          </p:nvPr>
        </p:nvGraphicFramePr>
        <p:xfrm>
          <a:off x="6080760" y="1508760"/>
          <a:ext cx="53492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Indicator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How it is used in the case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CVDP001CKD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GP-recorded CKD prevalence (G3a–G5)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CVDP002CKD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Patients with two low eGFR results but no CKD code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CVDP004CKD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Urine ACR testing coverage in the previous 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CVDP006CKD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1D2B28"/>
                          </a:solidFill>
                          <a:latin typeface="Arial"/>
                        </a:rPr>
                        <a:t>eGFR testing coverage in the previous 12 months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919472"/>
            <a:ext cx="996696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800" b="1" i="0">
                <a:solidFill>
                  <a:srgbClr val="1D2B28"/>
                </a:solidFill>
                <a:latin typeface="Arial"/>
              </a:rPr>
              <a:t>Commercial lens: combine patient volume with the uncoded gap to prioritise field focus, testing support and partnership 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730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Dataset snapshot: patient volume and testing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Example ICB records from the source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47088"/>
          <a:ext cx="1078991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2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2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Diagnosed CKD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eGFR tested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uACR tested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North East &amp; North Cumbria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2,635,055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152,670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130,420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86,720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Greater Manchester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2,594,325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112,500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6,815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95,880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55,965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North West London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2,444,745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41,130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0920" y="4370832"/>
            <a:ext cx="30175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2500" b="1" i="0" dirty="0">
                <a:solidFill>
                  <a:srgbClr val="006B54"/>
                </a:solidFill>
                <a:latin typeface="Arial"/>
              </a:rPr>
              <a:t>Diagnosed + uncoded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0920" y="5312664"/>
            <a:ext cx="274320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3760" y="5477256"/>
            <a:ext cx="3017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 dirty="0">
                <a:solidFill>
                  <a:srgbClr val="1D2B28"/>
                </a:solidFill>
                <a:latin typeface="Arial"/>
              </a:rPr>
              <a:t>Core market sizing 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8637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18288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52120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3200" b="1" i="0">
                <a:solidFill>
                  <a:srgbClr val="1D2B28"/>
                </a:solidFill>
                <a:latin typeface="Arial"/>
              </a:rPr>
              <a:t>Which ICBs represent the largest marketing opportunity?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09728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Short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7200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400" b="1" i="0">
                <a:solidFill>
                  <a:srgbClr val="1D2B28"/>
                </a:solidFill>
                <a:latin typeface="Arial"/>
              </a:rPr>
              <a:t>North East &amp; North Cumbria is the largest single opportunity by total CKD patient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3977639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5F6F68"/>
                </a:solidFill>
                <a:latin typeface="Arial"/>
              </a:rPr>
              <a:t>Evidence follows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52628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000" b="1" i="0">
                <a:solidFill>
                  <a:srgbClr val="006B54"/>
                </a:solidFill>
                <a:latin typeface="Arial"/>
              </a:rPr>
              <a:t>165,550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5202936"/>
            <a:ext cx="137160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5285232"/>
            <a:ext cx="1645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Total potential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26280"/>
            <a:ext cx="14173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000" b="1" i="0">
                <a:solidFill>
                  <a:srgbClr val="006B54"/>
                </a:solidFill>
                <a:latin typeface="Arial"/>
              </a:rPr>
              <a:t>12,880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5202936"/>
            <a:ext cx="114300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5285232"/>
            <a:ext cx="14173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Uncoded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4526280"/>
            <a:ext cx="11887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000" b="1" i="0">
                <a:solidFill>
                  <a:srgbClr val="006B54"/>
                </a:solidFill>
                <a:latin typeface="Arial"/>
              </a:rPr>
              <a:t>8.4%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5202936"/>
            <a:ext cx="91440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5285232"/>
            <a:ext cx="11887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Uncoded rate</a:t>
            </a:r>
          </a:p>
        </p:txBody>
      </p:sp>
    </p:spTree>
    <p:extLst>
      <p:ext uri="{BB962C8B-B14F-4D97-AF65-F5344CB8AC3E}">
        <p14:creationId xmlns:p14="http://schemas.microsoft.com/office/powerpoint/2010/main" val="2327190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Q1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Top ICBs by total potential CKD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Total potential = diagnosed CKD patients + uncoded eligible patients.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78" cy="4257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22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9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Diagnosed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Total potential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 %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North East &amp; North Cumbria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152,670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12,880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165,550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8.4%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Cheshire &amp; Merseyside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116,960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7,760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124,720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Greater Manchester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119,315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West Yorkshire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102,610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7,845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110,455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Humber &amp; North Yorkshire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90,985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102,125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Kent &amp; Medway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92,420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7,650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100,070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Sussex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95,765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Hampshire &amp; Isle of Wight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79,465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9,820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89,285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317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73781-549E-1196-ED9B-F760549C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18288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52120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3200" b="1" i="0" dirty="0">
                <a:solidFill>
                  <a:srgbClr val="1D2B28"/>
                </a:solidFill>
                <a:latin typeface="Arial"/>
              </a:rPr>
              <a:t>Where should </a:t>
            </a:r>
            <a:r>
              <a:rPr lang="en-GB" sz="3200" b="1" dirty="0">
                <a:solidFill>
                  <a:srgbClr val="1D2B28"/>
                </a:solidFill>
                <a:latin typeface="Arial"/>
              </a:rPr>
              <a:t>you</a:t>
            </a:r>
            <a:r>
              <a:rPr sz="3200" b="1" i="0" dirty="0">
                <a:solidFill>
                  <a:srgbClr val="1D2B28"/>
                </a:solidFill>
                <a:latin typeface="Arial"/>
              </a:rPr>
              <a:t> invest to improve diagnosis?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09728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Short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7200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400" b="1" i="0" dirty="0">
                <a:solidFill>
                  <a:srgbClr val="1D2B28"/>
                </a:solidFill>
                <a:latin typeface="Arial"/>
              </a:rPr>
              <a:t>Prioritize ICBs that combine large populations with high uncoded patient burden.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3977639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 dirty="0">
                <a:solidFill>
                  <a:srgbClr val="5F6F68"/>
                </a:solidFill>
                <a:latin typeface="Arial"/>
              </a:rPr>
              <a:t>Evidence follows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43484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Investment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00600"/>
            <a:ext cx="429768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 dirty="0">
                <a:solidFill>
                  <a:srgbClr val="1D2B28"/>
                </a:solidFill>
                <a:latin typeface="Arial"/>
              </a:rPr>
              <a:t>1. Scale of population</a:t>
            </a:r>
          </a:p>
          <a:p>
            <a:pPr algn="l"/>
            <a:r>
              <a:rPr sz="1600" b="0" i="0" dirty="0">
                <a:solidFill>
                  <a:srgbClr val="1D2B28"/>
                </a:solidFill>
                <a:latin typeface="Arial"/>
              </a:rPr>
              <a:t>2. Absolute uncoded pool</a:t>
            </a:r>
          </a:p>
          <a:p>
            <a:pPr algn="l"/>
            <a:r>
              <a:rPr sz="1600" b="0" i="0" dirty="0">
                <a:solidFill>
                  <a:srgbClr val="1D2B28"/>
                </a:solidFill>
                <a:latin typeface="Arial"/>
              </a:rPr>
              <a:t>3. High uncoded percentage</a:t>
            </a:r>
          </a:p>
        </p:txBody>
      </p:sp>
    </p:spTree>
    <p:extLst>
      <p:ext uri="{BB962C8B-B14F-4D97-AF65-F5344CB8AC3E}">
        <p14:creationId xmlns:p14="http://schemas.microsoft.com/office/powerpoint/2010/main" val="144224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070DE-B110-75CE-422E-40FD965D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Q2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Priority investment list: scale plus undiagnosed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Tier 1 ICBs offer the clearest combination of volume and uncoded need.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572768"/>
          <a:ext cx="10881357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4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9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 %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North East &amp; North Cumbria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2,635,055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12,880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8.4%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Humber &amp; North Yorkshire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1,485,970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11,140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Hampshire &amp; Isle of Wight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1,604,260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9,820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Sussex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1,525,190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8,085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9.2%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Hertfordshire &amp; West Essex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1,318,720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Buckinghamshire, Oxfordshire &amp; Berkshire West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1,576,605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7,705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11.7%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Kent &amp; Medway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1,606,255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Devon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1,068,350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7,380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D2B28"/>
                          </a:solidFill>
                          <a:latin typeface="Arial"/>
                        </a:rPr>
                        <a:t>11.3%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2275" y="5916168"/>
            <a:ext cx="10149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 dirty="0">
                <a:solidFill>
                  <a:srgbClr val="1D2B28"/>
                </a:solidFill>
                <a:latin typeface="Arial"/>
              </a:rPr>
              <a:t>Recommended focus: deploy diagnosis support and account engagement first in Tier 1, then scale to Tier 2 where rates remain elevated.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097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93C86-CDA5-AB49-679F-44D51792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18288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2980"/>
            <a:ext cx="52120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r>
              <a:rPr lang="en-GB" sz="2800" b="1">
                <a:solidFill>
                  <a:srgbClr val="1E2C29"/>
                </a:solidFill>
                <a:latin typeface="Arial"/>
              </a:rPr>
              <a:t>For the priority ICBs, what would be the focus on testing strategies to improve diagnosis rates?</a:t>
            </a:r>
            <a:endParaRPr sz="3200" b="1" i="0" dirty="0">
              <a:solidFill>
                <a:srgbClr val="1D2B28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3186684"/>
            <a:ext cx="109728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Short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7200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400" b="1" i="0">
                <a:solidFill>
                  <a:srgbClr val="1D2B28"/>
                </a:solidFill>
                <a:latin typeface="Arial"/>
              </a:rPr>
              <a:t>Begin with eGFR coverage: below-median testing points to missed diagnosis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3977639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5F6F68"/>
                </a:solidFill>
                <a:latin typeface="Arial"/>
              </a:rPr>
              <a:t>Evidence follows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26280"/>
            <a:ext cx="27432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400" b="1" i="0">
                <a:solidFill>
                  <a:srgbClr val="006B54"/>
                </a:solidFill>
                <a:latin typeface="Arial"/>
              </a:rPr>
              <a:t>91.1%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5202936"/>
            <a:ext cx="246888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5285232"/>
            <a:ext cx="2743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National median eGFR testing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754880"/>
            <a:ext cx="1828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Use this as a benchmark for prioritising testing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1367897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Q3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eGFR test focus: high-gap ICBs below median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Median eGFR testing rate = 91.1%. Focus where high uncoded volume coincides with below-median coverage.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64208"/>
          <a:ext cx="676655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Uncoded %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eGFR rate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Gap vs median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Hampshire &amp; Isle of Wight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9,820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82.3%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8.9 pp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Kent &amp; Medway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7,650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88.6%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2.5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Buckinghamshire, Oxfordshire &amp; Berkshire 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1.5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Cheshire &amp; Merseyside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7,760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90.5%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0.7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Sussex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8,085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90.8%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09560" y="1691640"/>
            <a:ext cx="1920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006B54"/>
                </a:solidFill>
                <a:latin typeface="Arial"/>
              </a:rPr>
              <a:t>Practical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121408"/>
            <a:ext cx="3474720" cy="2514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 dirty="0">
                <a:solidFill>
                  <a:srgbClr val="1D2B28"/>
                </a:solidFill>
                <a:latin typeface="Arial"/>
              </a:rPr>
              <a:t>Target practices with low eGFR coverage before broad awareness activity.</a:t>
            </a:r>
          </a:p>
          <a:p>
            <a:pPr algn="l"/>
            <a:endParaRPr sz="1600" b="0" i="0" dirty="0">
              <a:solidFill>
                <a:srgbClr val="1D2B28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D2B28"/>
                </a:solidFill>
                <a:latin typeface="Arial"/>
              </a:rPr>
              <a:t>Link testing support to CKD coding follow-up.</a:t>
            </a:r>
          </a:p>
          <a:p>
            <a:pPr algn="l"/>
            <a:endParaRPr sz="1600" b="0" i="0" dirty="0">
              <a:solidFill>
                <a:srgbClr val="1D2B28"/>
              </a:solidFill>
              <a:latin typeface="Arial"/>
            </a:endParaRPr>
          </a:p>
          <a:p>
            <a:pPr algn="l"/>
            <a:r>
              <a:rPr lang="en-GB" sz="1600" b="0" i="0" dirty="0">
                <a:solidFill>
                  <a:srgbClr val="1D2B28"/>
                </a:solidFill>
                <a:latin typeface="Arial"/>
              </a:rPr>
              <a:t>Prioritize</a:t>
            </a:r>
            <a:r>
              <a:rPr sz="1600" b="0" i="0" dirty="0">
                <a:solidFill>
                  <a:srgbClr val="1D2B28"/>
                </a:solidFill>
                <a:latin typeface="Arial"/>
              </a:rPr>
              <a:t> ICBs where uncoded volume is high enough to convert.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99547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D5FD2-16C9-49DE-F9C7-B1E8C4B3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18288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52120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3200" b="1" i="0">
                <a:solidFill>
                  <a:srgbClr val="1D2B28"/>
                </a:solidFill>
                <a:latin typeface="Arial"/>
              </a:rPr>
              <a:t>Are ICBs improving coding and testing practice?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09728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Short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7200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GB" sz="1600" b="1">
                <a:solidFill>
                  <a:srgbClr val="1E2C29"/>
                </a:solidFill>
                <a:latin typeface="Arial"/>
              </a:rPr>
              <a:t>Yes, recorded CKD is increasing while uncoded CKD is decreasing for most ICBs over the last 3 years.</a:t>
            </a:r>
            <a:endParaRPr sz="2400" b="1" i="0" dirty="0">
              <a:solidFill>
                <a:srgbClr val="1D2B28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3952" y="3977639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5F6F68"/>
                </a:solidFill>
                <a:latin typeface="Arial"/>
              </a:rPr>
              <a:t>Evidence follows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90288"/>
            <a:ext cx="20574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000" b="1" i="0">
                <a:solidFill>
                  <a:srgbClr val="006B54"/>
                </a:solidFill>
                <a:latin typeface="Arial"/>
              </a:rPr>
              <a:t>+2.17 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5266944"/>
            <a:ext cx="178308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5349240"/>
            <a:ext cx="2057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Largest increase in GP-recorded CKD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590288"/>
            <a:ext cx="20574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000" b="1" i="0">
                <a:solidFill>
                  <a:srgbClr val="006B54"/>
                </a:solidFill>
                <a:latin typeface="Arial"/>
              </a:rPr>
              <a:t>−0.63 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5266944"/>
            <a:ext cx="178308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5349240"/>
            <a:ext cx="2057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Largest reduction in uncoded CKD</a:t>
            </a:r>
          </a:p>
        </p:txBody>
      </p:sp>
    </p:spTree>
    <p:extLst>
      <p:ext uri="{BB962C8B-B14F-4D97-AF65-F5344CB8AC3E}">
        <p14:creationId xmlns:p14="http://schemas.microsoft.com/office/powerpoint/2010/main" val="2428210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DF224-C9AD-5FE1-3BD3-E288264A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Top improvers: GP-recorded CKD prevalence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CVDP001CKD, first period to December 2025.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469878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First period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Last period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Leicester, Leicestershire &amp; Rutland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3.12%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5.29%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+2.17 pp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Lincolnshire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6.10%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7.91%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+1.81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Suffolk &amp; North East Essex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+1.57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Norfolk &amp; Waveney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4.01%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5.56%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+1.55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Mid &amp; South Essex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3.46%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+1.46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Cambridgeshire &amp; Peterborough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2.16%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3.60%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+1.44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Bath, Swindon &amp; Wiltshire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+1.36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989320"/>
            <a:ext cx="9875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D2B28"/>
                </a:solidFill>
                <a:latin typeface="Arial"/>
              </a:rPr>
              <a:t>Leicester, Leicestershire &amp; Rutland shows the strongest improvement since June 2022.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929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36C03-819B-8CAF-226B-92A5961C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Top reductions: uncoded CKD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CVDP002CKD, first period to December 2025.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469878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First period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Last period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Coventry &amp; Warwickshire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0.95%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0.32%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−0.63 pp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Suffolk &amp; North East Essex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1.24%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0.65%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−0.59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Norfolk &amp; Waveney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−0.56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Lincolnshire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0.84%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0.34%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−0.50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Derby &amp; Derbyshire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−0.49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Black Country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0.74%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0.26%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−0.48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Cambridgeshire &amp; Peterborough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−0.45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989320"/>
            <a:ext cx="9875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D2B28"/>
                </a:solidFill>
                <a:latin typeface="Arial"/>
              </a:rPr>
              <a:t>Coventry &amp; Warwickshire shows the largest reduction in uncoded CKD, indicating improved coding follow-up.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2262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9617B-1178-DBE8-134B-94CCBBA8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18288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52120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3200" b="1" i="0" dirty="0">
                <a:solidFill>
                  <a:srgbClr val="1D2B28"/>
                </a:solidFill>
                <a:latin typeface="Arial"/>
              </a:rPr>
              <a:t>How can </a:t>
            </a:r>
            <a:r>
              <a:rPr lang="en-GB" sz="3200" b="1" i="0" dirty="0">
                <a:solidFill>
                  <a:srgbClr val="1D2B28"/>
                </a:solidFill>
                <a:latin typeface="Arial"/>
              </a:rPr>
              <a:t>we</a:t>
            </a:r>
            <a:r>
              <a:rPr sz="3200" b="1" i="0" dirty="0">
                <a:solidFill>
                  <a:srgbClr val="1D2B28"/>
                </a:solidFill>
                <a:latin typeface="Arial"/>
              </a:rPr>
              <a:t> create customer segments?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09728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Short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7200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400" b="1" i="0">
                <a:solidFill>
                  <a:srgbClr val="1D2B28"/>
                </a:solidFill>
                <a:latin typeface="Arial"/>
              </a:rPr>
              <a:t>Segment ICBs by unmet need, testing quality and market scale to tailor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3977639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5F6F68"/>
                </a:solidFill>
                <a:latin typeface="Arial"/>
              </a:rPr>
              <a:t>Evidence follows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34340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429768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1D2B28"/>
                </a:solidFill>
                <a:latin typeface="Arial"/>
              </a:rPr>
              <a:t>High gap: diagnosis intervention</a:t>
            </a:r>
          </a:p>
          <a:p>
            <a:pPr algn="l"/>
            <a:r>
              <a:rPr sz="1600" b="0" i="0">
                <a:solidFill>
                  <a:srgbClr val="1D2B28"/>
                </a:solidFill>
                <a:latin typeface="Arial"/>
              </a:rPr>
              <a:t>Mid gap: scalable conversion</a:t>
            </a:r>
          </a:p>
          <a:p>
            <a:pPr algn="l"/>
            <a:r>
              <a:rPr sz="1600" b="0" i="0">
                <a:solidFill>
                  <a:srgbClr val="1D2B28"/>
                </a:solidFill>
                <a:latin typeface="Arial"/>
              </a:rPr>
              <a:t>Low gap: maintain and optimise</a:t>
            </a:r>
          </a:p>
        </p:txBody>
      </p:sp>
    </p:spTree>
    <p:extLst>
      <p:ext uri="{BB962C8B-B14F-4D97-AF65-F5344CB8AC3E}">
        <p14:creationId xmlns:p14="http://schemas.microsoft.com/office/powerpoint/2010/main" val="499284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CC14C-CEA7-2794-3762-E872316F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Segmentation approach: K-means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The objective is to tailor engagement by both need and market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3657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006B54"/>
                </a:solidFill>
                <a:latin typeface="Arial"/>
              </a:rPr>
              <a:t>Inputs used after standardisation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389120" cy="1828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800" b="0" i="0" dirty="0">
                <a:solidFill>
                  <a:srgbClr val="1D2B28"/>
                </a:solidFill>
                <a:latin typeface="Arial"/>
              </a:rPr>
              <a:t>% uncoded</a:t>
            </a:r>
          </a:p>
          <a:p>
            <a:pPr algn="l"/>
            <a:r>
              <a:rPr sz="1800" b="0" i="0" dirty="0">
                <a:solidFill>
                  <a:srgbClr val="1D2B28"/>
                </a:solidFill>
                <a:latin typeface="Arial"/>
              </a:rPr>
              <a:t>eGFR testing rate</a:t>
            </a:r>
          </a:p>
          <a:p>
            <a:pPr algn="l"/>
            <a:r>
              <a:rPr sz="1800" b="0" i="0" dirty="0">
                <a:solidFill>
                  <a:srgbClr val="1D2B28"/>
                </a:solidFill>
                <a:latin typeface="Arial"/>
              </a:rPr>
              <a:t>log(total population)</a:t>
            </a:r>
          </a:p>
          <a:p>
            <a:pPr algn="l"/>
            <a:r>
              <a:rPr sz="1800" b="0" i="0" dirty="0">
                <a:solidFill>
                  <a:srgbClr val="1D2B28"/>
                </a:solidFill>
                <a:latin typeface="Arial"/>
              </a:rPr>
              <a:t>log(uncoded patients)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691640"/>
            <a:ext cx="73152" cy="3611880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572768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006B54"/>
                </a:solidFill>
                <a:latin typeface="Arial"/>
              </a:rPr>
              <a:t>Model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993392"/>
            <a:ext cx="443484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800" b="0" i="0">
                <a:solidFill>
                  <a:srgbClr val="1D2B28"/>
                </a:solidFill>
                <a:latin typeface="Arial"/>
              </a:rPr>
              <a:t>k = 3 selected via elbow (inertia). The output produces three actionable market segments: High gap, Mid gap and Low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730752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006B54"/>
                </a:solidFill>
                <a:latin typeface="Arial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133087"/>
            <a:ext cx="443484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700" b="0" i="0">
                <a:solidFill>
                  <a:srgbClr val="1D2B28"/>
                </a:solidFill>
                <a:latin typeface="Arial"/>
              </a:rPr>
              <a:t>The same national message will not fit every ICB. Segmentation clarifies where to lead with testing, coding support or account maintenance.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67570"/>
                </a:solidFill>
                <a:latin typeface="Arial"/>
              </a:rPr>
              <a:t>Source: NHS CVD Prevent Data Explorer; extract updated to December 2025.</a:t>
            </a:r>
          </a:p>
        </p:txBody>
      </p:sp>
    </p:spTree>
    <p:extLst>
      <p:ext uri="{BB962C8B-B14F-4D97-AF65-F5344CB8AC3E}">
        <p14:creationId xmlns:p14="http://schemas.microsoft.com/office/powerpoint/2010/main" val="77207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8092F-6D7B-4ECB-DDE6-0CEFBC71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Cluster profile: where effort should differ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High-gap ICBs have lower testing rates and a larger undiagnosed opportunity.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89015"/>
              </p:ext>
            </p:extLst>
          </p:nvPr>
        </p:nvGraphicFramePr>
        <p:xfrm>
          <a:off x="685800" y="1700784"/>
          <a:ext cx="10607039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ICBs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Avg uncoded %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Avg eGFR rate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Median population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Total patients</a:t>
                      </a:r>
                      <a:endParaRPr lang="en-GB" sz="1400" b="1" i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Total uncoded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1">
                          <a:solidFill>
                            <a:srgbClr val="1E2C29"/>
                          </a:solidFill>
                          <a:latin typeface="Arial"/>
                        </a:rPr>
                        <a:t>High gap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 dirty="0">
                          <a:solidFill>
                            <a:srgbClr val="1E2C29"/>
                          </a:solidFill>
                          <a:latin typeface="Arial"/>
                        </a:rPr>
                        <a:t>9.9%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88.6%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1,318,720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828,445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75,275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1">
                          <a:solidFill>
                            <a:srgbClr val="1E2C29"/>
                          </a:solidFill>
                          <a:latin typeface="Arial"/>
                        </a:rPr>
                        <a:t>Mid gap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 dirty="0">
                          <a:solidFill>
                            <a:srgbClr val="1E2C29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 dirty="0">
                          <a:solidFill>
                            <a:srgbClr val="1E2C29"/>
                          </a:solidFill>
                          <a:latin typeface="Arial"/>
                        </a:rPr>
                        <a:t>91.3%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2,132,370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967,630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70,735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1">
                          <a:solidFill>
                            <a:srgbClr val="1E2C29"/>
                          </a:solidFill>
                          <a:latin typeface="Arial"/>
                        </a:rPr>
                        <a:t>Low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92.3%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824,325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951,840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 dirty="0">
                          <a:solidFill>
                            <a:srgbClr val="1E2C29"/>
                          </a:solidFill>
                          <a:latin typeface="Arial"/>
                        </a:rPr>
                        <a:t>66,510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846320"/>
            <a:ext cx="40233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GB" sz="1600" b="1">
                <a:solidFill>
                  <a:srgbClr val="006B54"/>
                </a:solidFill>
                <a:latin typeface="Arial"/>
              </a:rPr>
              <a:t>Engagement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30368"/>
            <a:ext cx="104698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GB" sz="1500" b="1">
                <a:solidFill>
                  <a:srgbClr val="1E2C29"/>
                </a:solidFill>
                <a:latin typeface="Arial"/>
              </a:rPr>
              <a:t>High gap: fund testing and coding initiatives. Mid gap: convert scale efficiently. Low gap: maintain access and monitor performance.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47549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53141-5C7F-443F-290F-676EE954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High-gap market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Selected ICBs with elevated uncoded burden and testing gaps.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502958"/>
              </p:ext>
            </p:extLst>
          </p:nvPr>
        </p:nvGraphicFramePr>
        <p:xfrm>
          <a:off x="685800" y="1572768"/>
          <a:ext cx="10698480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205233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Uncoded %</a:t>
                      </a: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Patients</a:t>
                      </a:r>
                      <a:endParaRPr lang="en-GB" sz="1400" b="1" i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Uncoded</a:t>
                      </a:r>
                      <a:endParaRPr lang="en-GB" sz="1400" b="1" i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  <a:endParaRPr lang="en-GB" sz="1400" b="1" i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/>
                        </a:rPr>
                        <a:t>eGFR rate</a:t>
                      </a:r>
                      <a:endParaRPr lang="en-GB" sz="1400" b="1" i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North East London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82,645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7,210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1,949,645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88.5%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South East London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68,905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5,005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1,727,900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88.2%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0734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Hampshire &amp; Isle of Wight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89,285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9,820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1,604,260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82.3%</a:t>
                      </a:r>
                    </a:p>
                  </a:txBody>
                  <a:tcPr marL="54864" marR="54864" marT="27432" marB="27432" anchor="ctr"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Buckinghamshire, Oxfordshire &amp; Berkshire West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11.7%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73,675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7,705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1,576,605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89.6%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North Central London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50,610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4,725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1,518,515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89.9%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South West London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53,755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3,245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1,404,965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89.4%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Hertfordshire &amp; West Essex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14.2%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64,880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8,075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1,318,720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91.1%</a:t>
                      </a:r>
                    </a:p>
                  </a:txBody>
                  <a:tcPr marL="54864" marR="54864" marT="27432" marB="27432" anchor="ctr">
                    <a:solidFill>
                      <a:srgbClr val="F4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Birmingham &amp; Solihull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54,120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3,720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1,276,225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GB" sz="1400" b="0">
                          <a:solidFill>
                            <a:srgbClr val="1E2C29"/>
                          </a:solidFill>
                          <a:latin typeface="Arial"/>
                        </a:rPr>
                        <a:t>88.7%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016752"/>
            <a:ext cx="1046988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GB" sz="1500" b="1">
                <a:solidFill>
                  <a:srgbClr val="1E2C29"/>
                </a:solidFill>
                <a:latin typeface="Arial"/>
              </a:rPr>
              <a:t>Use these accounts as pilots for diagnosis pathway support, then replicate the playbook in similar high-gap ICBs.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GB" sz="900" b="0">
                <a:solidFill>
                  <a:srgbClr val="667570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39392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DD706-705D-6167-5193-197D49BA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1828800" cy="68580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521208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3200" b="1" i="0">
                <a:solidFill>
                  <a:srgbClr val="1D2B28"/>
                </a:solidFill>
                <a:latin typeface="Arial"/>
              </a:rPr>
              <a:t>How do age and gender affect CKD opportunity?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097280" cy="36576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1" i="0">
                <a:solidFill>
                  <a:srgbClr val="006B54"/>
                </a:solidFill>
                <a:latin typeface="Arial"/>
              </a:rPr>
              <a:t>Short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57200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400" b="1" i="0" dirty="0">
                <a:solidFill>
                  <a:srgbClr val="1D2B28"/>
                </a:solidFill>
                <a:latin typeface="Arial"/>
              </a:rPr>
              <a:t>Age is the strongest driver; </a:t>
            </a:r>
            <a:r>
              <a:rPr lang="en-GB" sz="2400" b="1" i="0" dirty="0">
                <a:solidFill>
                  <a:srgbClr val="1D2B28"/>
                </a:solidFill>
                <a:latin typeface="Arial"/>
              </a:rPr>
              <a:t>Fe</a:t>
            </a:r>
            <a:r>
              <a:rPr sz="2400" b="1" i="0" dirty="0">
                <a:solidFill>
                  <a:srgbClr val="1D2B28"/>
                </a:solidFill>
                <a:latin typeface="Arial"/>
              </a:rPr>
              <a:t>male CKD rates are also higher across both indicators.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3977639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0" i="0">
                <a:solidFill>
                  <a:srgbClr val="5F6F68"/>
                </a:solidFill>
                <a:latin typeface="Arial"/>
              </a:rPr>
              <a:t>Evidence follows on the next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26280"/>
            <a:ext cx="2514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400" b="1" i="0">
                <a:solidFill>
                  <a:srgbClr val="006B54"/>
                </a:solidFill>
                <a:latin typeface="Arial"/>
              </a:rPr>
              <a:t>33.6%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5202936"/>
            <a:ext cx="224028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5285232"/>
            <a:ext cx="25146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500" b="0" i="0">
                <a:solidFill>
                  <a:srgbClr val="1D2B28"/>
                </a:solidFill>
                <a:latin typeface="Arial"/>
              </a:rPr>
              <a:t>Median CKD prevalence in 80+ age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4526280"/>
            <a:ext cx="1828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3400" b="1" i="0">
                <a:solidFill>
                  <a:srgbClr val="006B54"/>
                </a:solidFill>
                <a:latin typeface="Arial"/>
              </a:rPr>
              <a:t>5.44%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5202936"/>
            <a:ext cx="155448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5285232"/>
            <a:ext cx="1828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lang="en-GB" sz="1500" b="0" i="0" dirty="0">
                <a:solidFill>
                  <a:srgbClr val="1D2B28"/>
                </a:solidFill>
                <a:latin typeface="Arial"/>
              </a:rPr>
              <a:t>Fem</a:t>
            </a:r>
            <a:r>
              <a:rPr sz="1500" b="0" i="0" dirty="0">
                <a:solidFill>
                  <a:srgbClr val="1D2B28"/>
                </a:solidFill>
                <a:latin typeface="Arial"/>
              </a:rPr>
              <a:t>ale GP-recorded CKD rate</a:t>
            </a:r>
          </a:p>
        </p:txBody>
      </p:sp>
    </p:spTree>
    <p:extLst>
      <p:ext uri="{BB962C8B-B14F-4D97-AF65-F5344CB8AC3E}">
        <p14:creationId xmlns:p14="http://schemas.microsoft.com/office/powerpoint/2010/main" val="2819842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9F07A-687B-99BF-E9BF-73E0CB6A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 dirty="0">
                <a:solidFill>
                  <a:srgbClr val="1D2B28"/>
                </a:solidFill>
                <a:latin typeface="Arial"/>
              </a:rPr>
              <a:t>Gender influence: </a:t>
            </a:r>
            <a:r>
              <a:rPr lang="en-GB" sz="2800" b="1" i="0" dirty="0">
                <a:solidFill>
                  <a:srgbClr val="1D2B28"/>
                </a:solidFill>
                <a:latin typeface="Arial"/>
              </a:rPr>
              <a:t>Fe</a:t>
            </a:r>
            <a:r>
              <a:rPr sz="2800" b="1" i="0" dirty="0">
                <a:solidFill>
                  <a:srgbClr val="1D2B28"/>
                </a:solidFill>
                <a:latin typeface="Arial"/>
              </a:rPr>
              <a:t>male rates are higher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lang="en-GB" sz="1500" b="0" i="0" dirty="0">
                <a:solidFill>
                  <a:srgbClr val="5F6F68"/>
                </a:solidFill>
                <a:latin typeface="Arial"/>
              </a:rPr>
              <a:t>Fem</a:t>
            </a:r>
            <a:r>
              <a:rPr sz="1500" b="0" i="0" dirty="0">
                <a:solidFill>
                  <a:srgbClr val="5F6F68"/>
                </a:solidFill>
                <a:latin typeface="Arial"/>
              </a:rPr>
              <a:t>ale rates are above </a:t>
            </a:r>
            <a:r>
              <a:rPr lang="en-GB" sz="1500" b="0" i="0" dirty="0">
                <a:solidFill>
                  <a:srgbClr val="5F6F68"/>
                </a:solidFill>
                <a:latin typeface="Arial"/>
              </a:rPr>
              <a:t>M</a:t>
            </a:r>
            <a:r>
              <a:rPr sz="1500" b="0" i="0" dirty="0">
                <a:solidFill>
                  <a:srgbClr val="5F6F68"/>
                </a:solidFill>
                <a:latin typeface="Arial"/>
              </a:rPr>
              <a:t>ale rates for both diagnosed and uncoded CKD indicators.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660926"/>
              </p:ext>
            </p:extLst>
          </p:nvPr>
        </p:nvGraphicFramePr>
        <p:xfrm>
          <a:off x="914400" y="1828800"/>
          <a:ext cx="580643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Indicator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b="1" i="0" dirty="0">
                          <a:solidFill>
                            <a:srgbClr val="FFFFFF"/>
                          </a:solidFill>
                          <a:latin typeface="Arial"/>
                        </a:rPr>
                        <a:t>Fem</a:t>
                      </a:r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/>
                        </a:rPr>
                        <a:t>ale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i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/>
                        </a:rPr>
                        <a:t>ale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D2B28"/>
                          </a:solidFill>
                          <a:latin typeface="Arial"/>
                        </a:rPr>
                        <a:t>GP-recorded CKD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2B28"/>
                          </a:solidFill>
                          <a:latin typeface="Arial"/>
                        </a:rPr>
                        <a:t>5.44%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rgbClr val="1D2B28"/>
                          </a:solidFill>
                          <a:latin typeface="Arial"/>
                        </a:rPr>
                        <a:t>4.24%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1E2C29"/>
                          </a:solidFill>
                          <a:latin typeface="Arial"/>
                        </a:rPr>
                        <a:t>+1.20 pp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D2B28"/>
                          </a:solidFill>
                          <a:latin typeface="Arial"/>
                        </a:rPr>
                        <a:t>Uncoded CKD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2B28"/>
                          </a:solidFill>
                          <a:latin typeface="Arial"/>
                        </a:rPr>
                        <a:t>0.435%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D2B28"/>
                          </a:solidFill>
                          <a:latin typeface="Arial"/>
                        </a:rPr>
                        <a:t>0.360%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dirty="0">
                          <a:solidFill>
                            <a:srgbClr val="1D2B28"/>
                          </a:solidFill>
                          <a:latin typeface="Arial"/>
                        </a:rPr>
                        <a:t>+0.075 pp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828800"/>
            <a:ext cx="1920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006B54"/>
                </a:solidFill>
                <a:latin typeface="Arial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40280"/>
            <a:ext cx="3383280" cy="1645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800" b="0" i="0" dirty="0">
                <a:solidFill>
                  <a:srgbClr val="1D2B28"/>
                </a:solidFill>
                <a:latin typeface="Arial"/>
              </a:rPr>
              <a:t>Gender can sharpen outreach and patient-finding messages, but it should be secondary to age and local testing gaps when </a:t>
            </a:r>
            <a:r>
              <a:rPr sz="1800" b="0" i="0" dirty="0" err="1">
                <a:solidFill>
                  <a:srgbClr val="1D2B28"/>
                </a:solidFill>
                <a:latin typeface="Arial"/>
              </a:rPr>
              <a:t>prioritising</a:t>
            </a:r>
            <a:r>
              <a:rPr sz="1800" b="0" i="0" dirty="0">
                <a:solidFill>
                  <a:srgbClr val="1D2B28"/>
                </a:solidFill>
                <a:latin typeface="Arial"/>
              </a:rPr>
              <a:t> ICB investment.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9561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E1B90-1867-DEA8-54CF-90EEAEA1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Age influence: CKD prevalence rises sharply after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Median CKD prevalence by age band.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83080"/>
          <a:ext cx="45719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6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Age band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Median CKD prevalence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D2B28"/>
                          </a:solidFill>
                          <a:latin typeface="Arial"/>
                        </a:rPr>
                        <a:t>18–39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D2B28"/>
                          </a:solidFill>
                          <a:latin typeface="Arial"/>
                        </a:rPr>
                        <a:t>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D2B28"/>
                          </a:solidFill>
                          <a:latin typeface="Arial"/>
                        </a:rPr>
                        <a:t>40–59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D2B28"/>
                          </a:solidFill>
                          <a:latin typeface="Arial"/>
                        </a:rPr>
                        <a:t>0.90%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D2B28"/>
                          </a:solidFill>
                          <a:latin typeface="Arial"/>
                        </a:rPr>
                        <a:t>60–79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D2B28"/>
                          </a:solidFill>
                          <a:latin typeface="Arial"/>
                        </a:rPr>
                        <a:t>8.68%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D2B28"/>
                          </a:solidFill>
                          <a:latin typeface="Arial"/>
                        </a:rPr>
                        <a:t>80+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D2B28"/>
                          </a:solidFill>
                          <a:latin typeface="Arial"/>
                        </a:rPr>
                        <a:t>33.63%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2057400"/>
            <a:ext cx="274320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4200" b="1" i="0">
                <a:solidFill>
                  <a:srgbClr val="006B54"/>
                </a:solidFill>
                <a:latin typeface="Arial"/>
              </a:rPr>
              <a:t>33.63%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880360"/>
            <a:ext cx="34747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800" b="1" i="0">
                <a:solidFill>
                  <a:srgbClr val="1D2B28"/>
                </a:solidFill>
                <a:latin typeface="Arial"/>
              </a:rPr>
              <a:t>Median CKD prevalence in the 80+ age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3675887"/>
            <a:ext cx="2926080" cy="27432"/>
          </a:xfrm>
          <a:prstGeom prst="rect">
            <a:avLst/>
          </a:prstGeom>
          <a:solidFill>
            <a:srgbClr val="00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3977639"/>
            <a:ext cx="40690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/>
            <a:r>
              <a:rPr sz="1700" b="0" i="0">
                <a:solidFill>
                  <a:srgbClr val="1D2B28"/>
                </a:solidFill>
                <a:latin typeface="Arial"/>
              </a:rPr>
              <a:t>Implication: ageing population size should be a core overlay when sizing CKD opportunity.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3874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881360" cy="18288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400" b="1" i="0">
                <a:solidFill>
                  <a:srgbClr val="006B54"/>
                </a:solidFill>
                <a:latin typeface="Arial"/>
              </a:rPr>
              <a:t>BONUS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"/>
            <a:ext cx="1078992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2800" b="1" i="0">
                <a:solidFill>
                  <a:srgbClr val="1D2B28"/>
                </a:solidFill>
                <a:latin typeface="Arial"/>
              </a:rPr>
              <a:t>ICBs with the largest ageing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10424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500" b="0" i="0">
                <a:solidFill>
                  <a:srgbClr val="5F6F68"/>
                </a:solidFill>
                <a:latin typeface="Arial"/>
              </a:rPr>
              <a:t>60+ population indicates where CKD prevalence and diagnosis burden are likely to be greatest.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0200"/>
          <a:ext cx="10698477" cy="4315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4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ICB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60–79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80+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60+ combined</a:t>
                      </a:r>
                    </a:p>
                  </a:txBody>
                  <a:tcPr>
                    <a:solidFill>
                      <a:srgbClr val="006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North East &amp; North Cumbria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728,395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175,795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D2B28"/>
                          </a:solidFill>
                          <a:latin typeface="Arial"/>
                        </a:rPr>
                        <a:t>904,190</a:t>
                      </a:r>
                    </a:p>
                  </a:txBody>
                  <a:tcPr>
                    <a:solidFill>
                      <a:srgbClr val="D9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Cheshire &amp; Merseyside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595,510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148,810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744,320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Greater Manchester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549,995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128,830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678,825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West Yorkshire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485,085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118,095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603,180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Hampshire &amp; Isle of Wight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427,270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122,880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550,150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Humber &amp; North Yorkshire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434,855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114,085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548,940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Sussex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419,850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124,320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544,170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551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Kent &amp; Medway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416,520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112,850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D2B28"/>
                          </a:solidFill>
                          <a:latin typeface="Arial"/>
                        </a:rPr>
                        <a:t>529,370</a:t>
                      </a:r>
                    </a:p>
                  </a:txBody>
                  <a:tcPr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6053328"/>
            <a:ext cx="10241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600" b="1" i="0">
                <a:solidFill>
                  <a:srgbClr val="1D2B28"/>
                </a:solidFill>
                <a:latin typeface="Arial"/>
              </a:rPr>
              <a:t>North East &amp; North Cumbria has the largest 60+ population, reinforcing its priority status from the market opportunity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9966960" cy="10972"/>
          </a:xfrm>
          <a:prstGeom prst="rect">
            <a:avLst/>
          </a:prstGeom>
          <a:solidFill>
            <a:srgbClr val="CB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68096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900" b="0" i="0">
                <a:solidFill>
                  <a:srgbClr val="5F6F68"/>
                </a:solidFill>
                <a:latin typeface="Arial"/>
              </a:rPr>
              <a:t>Source: NHS CVD Prevent Data Explorer; extract updated to 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/>
            <a:r>
              <a:rPr sz="900" b="0" i="0">
                <a:solidFill>
                  <a:srgbClr val="006B54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9162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2640</TotalTime>
  <Words>1819</Words>
  <Application>Microsoft Office PowerPoint</Application>
  <PresentationFormat>Widescreen</PresentationFormat>
  <Paragraphs>527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Tsai, Hoi Yuk (Data Engineer)</dc:creator>
  <cp:lastModifiedBy>Tsai, Hoi Yuk (Data Engineer)</cp:lastModifiedBy>
  <cp:revision>56</cp:revision>
  <dcterms:created xsi:type="dcterms:W3CDTF">2026-06-06T15:36:24Z</dcterms:created>
  <dcterms:modified xsi:type="dcterms:W3CDTF">2026-06-08T11:37:28Z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99fbdcd-752b-43a2-b43a-6ff31172531d_Enabled">
    <vt:lpwstr>true</vt:lpwstr>
  </property>
  <property fmtid="{D5CDD505-2E9C-101B-9397-08002B2CF9AE}" pid="3" name="MSIP_Label_b99fbdcd-752b-43a2-b43a-6ff31172531d_SetDate">
    <vt:lpwstr>2026-06-06T15:36:59Z</vt:lpwstr>
  </property>
  <property fmtid="{D5CDD505-2E9C-101B-9397-08002B2CF9AE}" pid="4" name="MSIP_Label_b99fbdcd-752b-43a2-b43a-6ff31172531d_Method">
    <vt:lpwstr>Privileged</vt:lpwstr>
  </property>
  <property fmtid="{D5CDD505-2E9C-101B-9397-08002B2CF9AE}" pid="5" name="MSIP_Label_b99fbdcd-752b-43a2-b43a-6ff31172531d_Name">
    <vt:lpwstr>Non-Business Information</vt:lpwstr>
  </property>
  <property fmtid="{D5CDD505-2E9C-101B-9397-08002B2CF9AE}" pid="6" name="MSIP_Label_b99fbdcd-752b-43a2-b43a-6ff31172531d_SiteId">
    <vt:lpwstr>68b865d5-cf18-4b2b-82a4-a4eddb9c5237</vt:lpwstr>
  </property>
  <property fmtid="{D5CDD505-2E9C-101B-9397-08002B2CF9AE}" pid="7" name="MSIP_Label_b99fbdcd-752b-43a2-b43a-6ff31172531d_ActionId">
    <vt:lpwstr>44c4d2b8-c112-491f-a0dc-8efccb2d7168</vt:lpwstr>
  </property>
  <property fmtid="{D5CDD505-2E9C-101B-9397-08002B2CF9AE}" pid="8" name="MSIP_Label_b99fbdcd-752b-43a2-b43a-6ff31172531d_ContentBits">
    <vt:lpwstr>0</vt:lpwstr>
  </property>
  <property fmtid="{D5CDD505-2E9C-101B-9397-08002B2CF9AE}" pid="9" name="MSIP_Label_b99fbdcd-752b-43a2-b43a-6ff31172531d_Tag">
    <vt:lpwstr>10, 0, 1, 1</vt:lpwstr>
  </property>
</Properties>
</file>